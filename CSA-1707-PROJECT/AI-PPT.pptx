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8" r:id="rId4"/>
    <p:sldId id="276" r:id="rId5"/>
    <p:sldId id="261" r:id="rId6"/>
    <p:sldId id="262" r:id="rId7"/>
    <p:sldId id="264" r:id="rId8"/>
    <p:sldId id="278" r:id="rId9"/>
    <p:sldId id="277" r:id="rId10"/>
    <p:sldId id="279" r:id="rId11"/>
    <p:sldId id="267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B89D8-734E-416E-8C12-4FA3466CA422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06F1E-B58C-416D-864C-8ADD6985887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306F1E-B58C-416D-864C-8ADD69858877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6252" y="2010022"/>
            <a:ext cx="8159496" cy="1169645"/>
          </a:xfrm>
        </p:spPr>
        <p:txBody>
          <a:bodyPr>
            <a:noAutofit/>
          </a:bodyPr>
          <a:lstStyle/>
          <a:p>
            <a:pPr marL="12700">
              <a:spcBef>
                <a:spcPts val="100"/>
              </a:spcBef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Powered Decentralized Healthcare Record Exchange, Intelligent Clinical Decision Support and Blockchain Enabled Organ Donation Network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618" y="4647251"/>
            <a:ext cx="5608692" cy="2571810"/>
          </a:xfrm>
        </p:spPr>
        <p:txBody>
          <a:bodyPr>
            <a:noAutofit/>
          </a:bodyPr>
          <a:lstStyle/>
          <a:p>
            <a:r>
              <a:rPr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PERAM VIVEKANANDA REDDY(192372330)</a:t>
            </a:r>
          </a:p>
          <a:p>
            <a:r>
              <a:rPr lang="en-IN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 RAMA KRISHNA(192311277)</a:t>
            </a:r>
          </a:p>
          <a:p>
            <a:r>
              <a:rPr lang="en-IN" sz="24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        S.KARTHIKEYAN (192419048)</a:t>
            </a:r>
          </a:p>
          <a:p>
            <a:endParaRPr lang="en-IN" sz="20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334278" y="339214"/>
            <a:ext cx="9601200" cy="8551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40882" y="4643009"/>
            <a:ext cx="6370701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Supervised By: </a:t>
            </a:r>
          </a:p>
          <a:p>
            <a:r>
              <a:rPr lang="en-US" altLang="en-IN" sz="2400" b="1" spc="-45" dirty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DR </a:t>
            </a:r>
            <a:r>
              <a:rPr lang="en-US" altLang="en-IN" sz="2400" b="1" spc="-45" dirty="0">
                <a:latin typeface="Times New Roman" panose="02020603050405020304"/>
                <a:cs typeface="Times New Roman" panose="02020603050405020304"/>
              </a:rPr>
              <a:t>. VEERAMANI</a:t>
            </a:r>
            <a:endParaRPr lang="en-US" altLang="en-IN" sz="2400" b="1" spc="-45" dirty="0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4298151" y="1534510"/>
            <a:ext cx="3410398" cy="712914"/>
          </a:xfrm>
        </p:spPr>
        <p:txBody>
          <a:bodyPr>
            <a:normAutofit/>
          </a:bodyPr>
          <a:lstStyle/>
          <a:p>
            <a:r>
              <a:rPr lang="en-US" sz="3800" dirty="0">
                <a:solidFill>
                  <a:schemeClr val="accent5"/>
                </a:solidFill>
                <a:latin typeface="Algerian" panose="04020705040A02060702" pitchFamily="82" charset="0"/>
              </a:rPr>
              <a:t>introduction</a:t>
            </a:r>
            <a:endParaRPr lang="en-IN" sz="3800" dirty="0">
              <a:solidFill>
                <a:schemeClr val="accent5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8352" y="2611868"/>
            <a:ext cx="1145364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decentralized healthcare platform enables secure sharing of patient medical records across hospitals using blockchain technology.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Artificial Intelligence to analyze patient history, laboratory reports, medical images, and symptoms to assist doctors in making accurate clinical decisions.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ensures that healthcare records remain tamper-proof, transparent, and accessible only to authorized users while maintaining complete patient privacy.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3348" y="1551224"/>
            <a:ext cx="3090672" cy="768476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Algerian" panose="04020705040A02060702" pitchFamily="82" charset="0"/>
              </a:rPr>
              <a:t>Objectives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24910" y="2912096"/>
            <a:ext cx="10951028" cy="33499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decentralized healthcare record exchange system using blockchain for secure medical data sharing.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AI-powered clinical decision support for accurate disease diagnosis and treatment recommendations.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patient privacy, transparency, and data integrity through decentralized blockchain architecture.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1039002" y="3019181"/>
            <a:ext cx="10113995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records are stored in isolated hospital databases, making information sharing difficult.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often undergo repeated medical tests because hospitals cannot access previous records. 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 is vulnerable to unauthorized access, modification, and cyber-attacks. 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986076" y="1781503"/>
            <a:ext cx="5562600" cy="76847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lgerian" panose="04020705040A02060702" pitchFamily="82" charset="0"/>
              </a:rPr>
              <a:t>Problem-Statement</a:t>
            </a:r>
            <a:endParaRPr dirty="0">
              <a:solidFill>
                <a:schemeClr val="bg2">
                  <a:lumMod val="25000"/>
                </a:schemeClr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A3DF5E-2B4F-FC48-F22A-0AC13147F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667" y="432621"/>
            <a:ext cx="8278586" cy="6081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50136" y="1659481"/>
            <a:ext cx="8491728" cy="1184538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  <a:latin typeface="Algerian" panose="04020705040A02060702" pitchFamily="82" charset="0"/>
              </a:rPr>
              <a:t>Module 1: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Healthcare Record Exchange Module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61295" y="3412416"/>
            <a:ext cx="9222478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patient medical records securely on a blockchain-based decentralized network.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authorized hospitals and doctors to access patient records instantly with patient consent.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duplicate medical records and repeated diagnostic tests.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2"/>
          <p:cNvSpPr txBox="1"/>
          <p:nvPr/>
        </p:nvSpPr>
        <p:spPr>
          <a:xfrm>
            <a:off x="2433828" y="1686481"/>
            <a:ext cx="7324344" cy="10278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chemeClr val="accent6">
                    <a:lumMod val="75000"/>
                  </a:schemeClr>
                </a:solidFill>
                <a:latin typeface="Algerian" panose="04020705040A02060702" pitchFamily="82" charset="0"/>
              </a:rPr>
              <a:t>Module 2: </a:t>
            </a:r>
            <a:r>
              <a:rPr lang="en-IN" sz="3500" b="1" dirty="0">
                <a:solidFill>
                  <a:schemeClr val="accent6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AI Clinical Decision Support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9220" y="3151530"/>
            <a:ext cx="9433560" cy="4329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Artificial Intelligence and Machine Learning algorithms to analyze patient symptoms, medical history, and laboratory reports.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doctors in disease prediction, diagnosis, and treatment planning.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personalized medication recommendations and risk assessment.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chronic diseases at early stages using predictive analytics.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76AF-1454-F2CE-8FF5-106EE98A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60" y="1441001"/>
            <a:ext cx="9470571" cy="1143000"/>
          </a:xfrm>
        </p:spPr>
        <p:txBody>
          <a:bodyPr>
            <a:normAutofit/>
          </a:bodyPr>
          <a:lstStyle/>
          <a:p>
            <a:pPr lvl="0"/>
            <a:r>
              <a:rPr lang="en-IN" sz="3200" dirty="0">
                <a:solidFill>
                  <a:schemeClr val="accent4"/>
                </a:solidFill>
                <a:latin typeface="Algerian" panose="04020705040A02060702" pitchFamily="82" charset="0"/>
              </a:rPr>
              <a:t>Module 3: Blockchain Enabled Organ Donation Network</a:t>
            </a:r>
            <a:endParaRPr lang="en-IN" sz="3200" dirty="0">
              <a:solidFill>
                <a:schemeClr val="accent4"/>
              </a:solidFill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7742F7-D6AD-DA3C-DAD2-43894AB162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3939" y="2715762"/>
            <a:ext cx="10530349" cy="352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secure donor and recipient registration using blockchain.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Matches organ donors and recipients using AI-based compatibility analysis.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smart contracts to automate verification and approval processes.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transparent organ allocation without human manipulation. 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complete traceability of organ transportation and transplantation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1197F-EACD-8898-72B0-A0FF9ABC204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689A9-70F3-D0D8-03A8-3171766DEB0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011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I</a:t>
            </a:r>
            <a:r>
              <a:rPr lang="en-IN" dirty="0">
                <a:latin typeface="Algerian" panose="04020705040A02060702" pitchFamily="82" charset="0"/>
              </a:rPr>
              <a:t>NTERFACE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30078-A1B8-972B-73EA-905D36ADA5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20145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F66048-6A6C-CC4F-B948-3A5C860226A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792741-165C-F581-0845-8F5843521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52" y="1568653"/>
            <a:ext cx="11765822" cy="5176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DE74-20F2-497C-DD05-F6E5A9139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0791" y="393526"/>
            <a:ext cx="8772409" cy="939083"/>
          </a:xfrm>
        </p:spPr>
        <p:txBody>
          <a:bodyPr>
            <a:norm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4F47F-2AF4-4D40-0A4C-6617807F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1212" y="1927123"/>
            <a:ext cx="9065342" cy="4232787"/>
          </a:xfrm>
        </p:spPr>
        <p:txBody>
          <a:bodyPr>
            <a:normAutofit/>
          </a:bodyPr>
          <a:lstStyle/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 / Flutter </a:t>
            </a:r>
          </a:p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(Flask/Django) or Node.js </a:t>
            </a:r>
          </a:p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/ PostgreSQL </a:t>
            </a:r>
          </a:p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Scikit-learn </a:t>
            </a:r>
          </a:p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Ethereum / Hyperledger Fabric / Polygon </a:t>
            </a:r>
          </a:p>
          <a:p>
            <a:pPr lvl="0"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Storage: 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IPFS(</a:t>
            </a:r>
            <a:r>
              <a:rPr lang="en-IN" dirty="0">
                <a:solidFill>
                  <a:schemeClr val="tx1"/>
                </a:solidFill>
              </a:rPr>
              <a:t>Interplanetary File System)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6AFC9-06AB-2BFA-C7DA-EB0FFD5C5E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FEB25-24BC-DA43-3F8C-2D3166C762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270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2954450" y="1517619"/>
            <a:ext cx="5751693" cy="99869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Algerian" panose="04020705040A02060702" pitchFamily="82" charset="0"/>
              </a:rPr>
              <a:t>Conclusion and Future </a:t>
            </a:r>
            <a:r>
              <a:rPr lang="en-US" altLang="en-US" sz="3600" dirty="0">
                <a:solidFill>
                  <a:schemeClr val="tx2"/>
                </a:solidFill>
                <a:latin typeface="Algerian" panose="04020705040A02060702" pitchFamily="82" charset="0"/>
                <a:ea typeface="Noto Sans" panose="020B0502040504020204" pitchFamily="34" charset="0"/>
                <a:cs typeface="Times New Roman" panose="02020603050405020304" pitchFamily="18" charset="0"/>
              </a:rPr>
              <a:t>Enhancement</a:t>
            </a:r>
            <a:endParaRPr lang="en-IN" sz="3600" dirty="0">
              <a:solidFill>
                <a:schemeClr val="tx2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8529" y="2822305"/>
            <a:ext cx="10378299" cy="38226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integrates Artificial Intelligence, Blockchain, and Cloud Computing to provide a secure and decentralized healthcare ecosystem.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healthcare record exchange, intelligent clinical decision support, and transparent organ donation management.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privacy, reduces medical errors, and enhances treatment accuracy through AI-driven healthcare analytics.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2361E-2D7D-C0D7-5B5B-905673719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6306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B52E-6C32-FF6E-41D2-8FB044C70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29465"/>
            <a:ext cx="10972800" cy="4525963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Azaria, A.,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Ekblaw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Vieira, T., &amp; Lippman, A. (2016).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MedRec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Using Blockchain for Medical Data Access and Permission Management. 2nd International Conference on Open and Big Data (OBD), IEEE.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Kuo, T.-T., Kim, H.-E., &amp; Ohno-Machado, L. (2017). Blockchain Distributed Ledger Technologies for Biomedical and Health Care Applications. Journal of the American Medical Informatics Association (JAMIA), 24(6), 1211–1220.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Kourou, K., Exarchos, T. P.,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Karamouzis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V., &amp; Fotiadis, D. I. (2015). Machine Learning Applications in Cancer Prognosis and Prediction. Computational and Structural Biotechnology Journal, 13, 8–17. </a:t>
            </a:r>
          </a:p>
          <a:p>
            <a:pPr algn="just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Griggs, W. M.,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Ossipova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O., Bebbington, J., et al. (2018). A Blockchain-Enabled Model for Organ Donation and Transplantation. IEEE/ACM International Conference on Connected Health: Applications, Systems and Engineering Technologies.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5758F9-8BA4-57AE-C2FC-0C6B1E11A29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5339" y="516090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AC1820-C9C2-F595-D989-DB711550B79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286" y="398104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3488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444D-CAB6-408B-FD95-2DE5D0F4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8271" y="2683541"/>
            <a:ext cx="4326194" cy="1143000"/>
          </a:xfrm>
        </p:spPr>
        <p:txBody>
          <a:bodyPr>
            <a:noAutofit/>
          </a:bodyPr>
          <a:lstStyle/>
          <a:p>
            <a:r>
              <a:rPr lang="en-US" sz="96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Thank You</a:t>
            </a:r>
            <a:endParaRPr lang="en-IN" sz="96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2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642</Words>
  <Application>Microsoft Office PowerPoint</Application>
  <PresentationFormat>Widescreen</PresentationFormat>
  <Paragraphs>53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Algerian</vt:lpstr>
      <vt:lpstr>Arial</vt:lpstr>
      <vt:lpstr>Calibri</vt:lpstr>
      <vt:lpstr>Times New Roman</vt:lpstr>
      <vt:lpstr>Wingdings</vt:lpstr>
      <vt:lpstr>Office Theme</vt:lpstr>
      <vt:lpstr>AI Powered Decentralized Healthcare Record Exchange, Intelligent Clinical Decision Support and Blockchain Enabled Organ Donation Network</vt:lpstr>
      <vt:lpstr>introduction</vt:lpstr>
      <vt:lpstr>Objectives</vt:lpstr>
      <vt:lpstr>Problem-Statement</vt:lpstr>
      <vt:lpstr>PowerPoint Presentation</vt:lpstr>
      <vt:lpstr>Module 1:Decentralized Healthcare Record Exchange Module</vt:lpstr>
      <vt:lpstr>PowerPoint Presentation</vt:lpstr>
      <vt:lpstr>Module 3: Blockchain Enabled Organ Donation Network</vt:lpstr>
      <vt:lpstr>INTERFACE</vt:lpstr>
      <vt:lpstr>TECHNOLOGIES</vt:lpstr>
      <vt:lpstr>Conclusion and Future Enhancement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Vivekanandareddy Peram</cp:lastModifiedBy>
  <cp:revision>43</cp:revision>
  <dcterms:created xsi:type="dcterms:W3CDTF">2013-01-27T09:14:00Z</dcterms:created>
  <dcterms:modified xsi:type="dcterms:W3CDTF">2026-08-19T03:25:15Z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1C671B9688D94848BC706CDB26FCBF84_12</vt:lpwstr>
  </property>
  <property fmtid="{D5CDD505-2E9C-101B-9397-08002B2CF9AE}" pid="3" name="KSOProductBuildVer">
    <vt:lpwstr>1033-12.2.0.23155</vt:lpwstr>
  </property>
</Properties>
</file>